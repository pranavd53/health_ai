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6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C60F5"/>
                </a:solidFill>
                <a:latin typeface="Arial"/>
              </a:defRPr>
            </a:pPr>
            <a:r>
              <a:t>TARS NEXT-GEN AI HEALTHCARE PLATFORM</a:t>
            </a:r>
          </a:p>
          <a:p>
            <a:pPr algn="ctr">
              <a:spcBef>
                <a:spcPts val="20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Secure, Multilingual AI-Powered Clinical &amp; Operational Assistant</a:t>
            </a:r>
          </a:p>
          <a:p>
            <a:pPr algn="ctr">
              <a:spcBef>
                <a:spcPts val="3000"/>
              </a:spcBef>
              <a:defRPr sz="1400">
                <a:solidFill>
                  <a:srgbClr val="0D9488"/>
                </a:solidFill>
                <a:latin typeface="Arial"/>
              </a:defRPr>
            </a:pPr>
            <a:r>
              <a:t>Multimodal Diagnostics · Geolocation SOS · Automated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2: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Access Delays: </a:t>
            </a:r>
            <a:r>
              <a:rPr sz="1400" b="0">
                <a:solidFill>
                  <a:srgbClr val="0F172A"/>
                </a:solidFill>
                <a:latin typeface="Arial"/>
              </a:rPr>
              <a:t>Traditional medical dashboards exhibit high friction for typing and navigating records, leading to checkup delays.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Siloed Care Systems: </a:t>
            </a:r>
            <a:r>
              <a:rPr sz="1400" b="0">
                <a:solidFill>
                  <a:srgbClr val="0F172A"/>
                </a:solidFill>
                <a:latin typeface="Arial"/>
              </a:rPr>
              <a:t>Patient symptom screening, diagnostic imaging, and emergency communication operate independently.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Document Authenticity Risks: </a:t>
            </a:r>
            <a:r>
              <a:rPr sz="1400" b="0">
                <a:solidFill>
                  <a:srgbClr val="0F172A"/>
                </a:solidFill>
                <a:latin typeface="Arial"/>
              </a:rPr>
              <a:t>Uploaded medical files and history reports are vulnerable to photoshop manipulations and forgery.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Emergency SOS Limitations: </a:t>
            </a:r>
            <a:r>
              <a:rPr sz="1400" b="0">
                <a:solidFill>
                  <a:srgbClr val="0F172A"/>
                </a:solidFill>
                <a:latin typeface="Arial"/>
              </a:rPr>
              <a:t>SOS triggers lack automated calculations to route alerts based on proximity between patients and doctors.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Target Users: </a:t>
            </a:r>
            <a:r>
              <a:rPr sz="1400" b="0">
                <a:solidFill>
                  <a:srgbClr val="0F172A"/>
                </a:solidFill>
                <a:latin typeface="Arial"/>
              </a:rPr>
              <a:t>Patients seeking low-latency care; Doctors managing clinical load; Admins auditing credentials and complaints.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3: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Multilingual Voice Dialogue: </a:t>
            </a:r>
            <a:r>
              <a:rPr sz="1400" b="0">
                <a:solidFill>
                  <a:srgbClr val="0F172A"/>
                </a:solidFill>
                <a:latin typeface="Arial"/>
              </a:rPr>
              <a:t>Enable hands-free navigation in English, Hindi, Telugu, and romanized Hinglish/Tinglish script styles.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Visual Diagnostics Overlay: </a:t>
            </a:r>
            <a:r>
              <a:rPr sz="1400" b="0">
                <a:solidFill>
                  <a:srgbClr val="0F172A"/>
                </a:solidFill>
                <a:latin typeface="Arial"/>
              </a:rPr>
              <a:t>Provide Vision Transformer pathology classification maps and overlay absolute bounding boxes.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Proximity Emergency SOS: </a:t>
            </a:r>
            <a:r>
              <a:rPr sz="1400" b="0">
                <a:solidFill>
                  <a:srgbClr val="0F172A"/>
                </a:solidFill>
                <a:latin typeface="Arial"/>
              </a:rPr>
              <a:t>Instantly alert and broadcast notifications to all registered doctors located within a 100km radius.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Operational Workflow Automation: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Implement automated consultation reassignments, leave auditing, and real-time scheduling checks.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Metadata Integrity Verification: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Incorporate heuristic file checking to systematically flag digital edits or forged specimen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4: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Multilingual TARS Assistant: </a:t>
            </a:r>
            <a:r>
              <a:rPr sz="1400" b="0">
                <a:solidFill>
                  <a:srgbClr val="0F172A"/>
                </a:solidFill>
                <a:latin typeface="Arial"/>
              </a:rPr>
              <a:t>Websocket-powered assistant performing page redirections, DB updates, and streaming voice notifications.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Vision Transformer Screenings: </a:t>
            </a:r>
            <a:r>
              <a:rPr sz="1400" b="0">
                <a:solidFill>
                  <a:srgbClr val="0F172A"/>
                </a:solidFill>
                <a:latin typeface="Arial"/>
              </a:rPr>
              <a:t>Deep learning classifiers for NIH radiography pathologies and 22 dermatological conditions.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Throat Mucosal Inspection: </a:t>
            </a:r>
            <a:r>
              <a:rPr sz="1400" b="0">
                <a:solidFill>
                  <a:srgbClr val="0F172A"/>
                </a:solidFill>
                <a:latin typeface="Arial"/>
              </a:rPr>
              <a:t>Deterministic HSV spectrum heuristics detecting acute pharyngitis and erythema inflammation.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Intelligent Scheduling Engine: </a:t>
            </a:r>
            <a:r>
              <a:rPr sz="1400" b="0">
                <a:solidFill>
                  <a:srgbClr val="0F172A"/>
                </a:solidFill>
                <a:latin typeface="Arial"/>
              </a:rPr>
              <a:t>Audited leave requests set doctor availability to false and cancel/reassign bookings automatically.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Verified PDF Synthesis: </a:t>
            </a:r>
            <a:r>
              <a:rPr sz="1400" b="0">
                <a:solidFill>
                  <a:srgbClr val="0F172A"/>
                </a:solidFill>
                <a:latin typeface="Arial"/>
              </a:rPr>
              <a:t>Compiles digital prescriptions with seed-based randomized signature paths and SHA-256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5: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Frontend Client Application: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React 19, Vite, TailwindCSS 4, GSAP (Animations), Lenis (Smooth scroll), Web Speech API.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Backend API Gateway: </a:t>
            </a:r>
            <a:r>
              <a:rPr sz="1400" b="0">
                <a:solidFill>
                  <a:srgbClr val="0F172A"/>
                </a:solidFill>
                <a:latin typeface="Arial"/>
              </a:rPr>
              <a:t>FastAPI (Python 3.11+), Uvicorn server, SQLAlchemy ORM framework.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Database Infrastructure: </a:t>
            </a:r>
            <a:r>
              <a:rPr sz="1400" b="0">
                <a:solidFill>
                  <a:srgbClr val="0F172A"/>
                </a:solidFill>
                <a:latin typeface="Arial"/>
              </a:rPr>
              <a:t>PostgreSQL (Supabase connection pooling) and SQLite for local development fallbacks.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Diagnostic Models &amp; APIs: </a:t>
            </a:r>
            <a:r>
              <a:rPr sz="1400" b="0">
                <a:solidFill>
                  <a:srgbClr val="0F172A"/>
                </a:solidFill>
                <a:latin typeface="Arial"/>
              </a:rPr>
              <a:t>LaurianeMD/vit-skin-disease, hiroaki-f/my_chest_xray_model, Gemini 1.5 Flash, Groq Whisper.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Local Speech Synthesis: </a:t>
            </a:r>
            <a:r>
              <a:rPr sz="1400" b="0">
                <a:solidFill>
                  <a:srgbClr val="0F172A"/>
                </a:solidFill>
                <a:latin typeface="Arial"/>
              </a:rPr>
              <a:t>Piper TTS (ONNX models: en_US-lessac-medium, hi_IN-fenil-medium, te_IN-gita-medium).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Integrations &amp; Utilities: </a:t>
            </a:r>
            <a:r>
              <a:rPr sz="1400" b="0">
                <a:solidFill>
                  <a:srgbClr val="0F172A"/>
                </a:solidFill>
                <a:latin typeface="Arial"/>
              </a:rPr>
              <a:t>Brevo SMTP API (Emails), ReportLab (PDF compilation), pypdf (PDF parsing).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6: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Client-Server Pattern: </a:t>
            </a:r>
            <a:r>
              <a:rPr sz="1400" b="0">
                <a:solidFill>
                  <a:srgbClr val="0F172A"/>
                </a:solidFill>
                <a:latin typeface="Arial"/>
              </a:rPr>
              <a:t>Structured as a decoupled SPA frontend communicating with a central FastAPI gateway.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Dual-Communication Gateways: </a:t>
            </a:r>
            <a:r>
              <a:rPr sz="1400" b="0">
                <a:solidFill>
                  <a:srgbClr val="0F172A"/>
                </a:solidFill>
                <a:latin typeface="Arial"/>
              </a:rPr>
              <a:t>REST HTTP endpoints for standard CRUD; WebSockets for real-time duplex voice and SOS alerts.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WebSockets Pipeline (/ws/tars/voice): </a:t>
            </a:r>
            <a:r>
              <a:rPr sz="1400" b="0">
                <a:solidFill>
                  <a:srgbClr val="0F172A"/>
                </a:solidFill>
                <a:latin typeface="Arial"/>
              </a:rPr>
              <a:t>Streams mic audio PCM bytes to server; returns text tokens and PCM synthesized audio stream.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Database Connection Pooling: </a:t>
            </a:r>
            <a:r>
              <a:rPr sz="1400" b="0">
                <a:solidFill>
                  <a:srgbClr val="0F172A"/>
                </a:solidFill>
                <a:latin typeface="Arial"/>
              </a:rPr>
              <a:t>Supabase PostgreSQL hosting using connection pools to ensure transactional scaling.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System Diagram Path: </a:t>
            </a:r>
            <a:r>
              <a:rPr sz="1400" b="0">
                <a:solidFill>
                  <a:srgbClr val="0F172A"/>
                </a:solidFill>
                <a:latin typeface="Arial"/>
              </a:rPr>
              <a:t>[React Client] &lt;-&gt; [FastAPI Gateway] &lt;-&gt; [SQLAlchemy ORM] &lt;-&gt; [PostgreSQL Database]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7: Application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STANDBY WAKE-WORD LISTENING: </a:t>
            </a:r>
            <a:r>
              <a:rPr sz="1400" b="0">
                <a:solidFill>
                  <a:srgbClr val="0F172A"/>
                </a:solidFill>
                <a:latin typeface="Arial"/>
              </a:rPr>
              <a:t>Standby SpeechRecognition constant background thread listens for localized wake words.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VOICE TRANSMISSION &amp; ANALYSIS: </a:t>
            </a:r>
            <a:r>
              <a:rPr sz="1400" b="0">
                <a:solidFill>
                  <a:srgbClr val="0F172A"/>
                </a:solidFill>
                <a:latin typeface="Arial"/>
              </a:rPr>
              <a:t>Streams Int16 16kHz PCM chunks via WebSocket. Packaged to WAV -&gt; Groq Whisper -&gt; Intent Engine.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CONTEXTUAL ORCHESTRATION: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TARS compiles user context (role, records, guidelines) -&gt; queries Gemini Flash -&gt; Returns Action/Msg JSON.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ASYNCHRONOUS SIDE-EFFECTS: </a:t>
            </a:r>
            <a:r>
              <a:rPr sz="1400" b="0">
                <a:solidFill>
                  <a:srgbClr val="0F172A"/>
                </a:solidFill>
                <a:latin typeface="Arial"/>
              </a:rPr>
              <a:t>Triggers DB actions (bookings, reminders) -&gt; sends text chunks -&gt; synthesizes speech via Piper TTS.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AUDIO STREAM DELIVERY: </a:t>
            </a:r>
            <a:r>
              <a:rPr sz="1400" b="0">
                <a:solidFill>
                  <a:srgbClr val="0F172A"/>
                </a:solidFill>
                <a:latin typeface="Arial"/>
              </a:rPr>
              <a:t>Segments spoken text at sentence boundaries -&gt; streams raw PCM voice bytes to patient speaker.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8: 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/backend Directory: </a:t>
            </a:r>
            <a:r>
              <a:rPr sz="1400" b="0">
                <a:solidFill>
                  <a:srgbClr val="0F172A"/>
                </a:solidFill>
                <a:latin typeface="Arial"/>
              </a:rPr>
              <a:t>Contains FastAPI gateway configurations, SQL schemas, migrations, test suites, and models.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  app/main.py File: </a:t>
            </a:r>
            <a:r>
              <a:rPr sz="1400" b="0">
                <a:solidFill>
                  <a:srgbClr val="0F172A"/>
                </a:solidFill>
                <a:latin typeface="Arial"/>
              </a:rPr>
              <a:t>Central backend entry point configuring routers, CORS middleware, and WebSocket loops.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  app/models.py File: </a:t>
            </a:r>
            <a:r>
              <a:rPr sz="1400" b="0">
                <a:solidFill>
                  <a:srgbClr val="0F172A"/>
                </a:solidFill>
                <a:latin typeface="Arial"/>
              </a:rPr>
              <a:t>SQLAlchemy declarative tables defining table fields, relationships, and deletion cascades.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  app/routes/ Subfolder: </a:t>
            </a:r>
            <a:r>
              <a:rPr sz="1400" b="0">
                <a:solidFill>
                  <a:srgbClr val="0F172A"/>
                </a:solidFill>
                <a:latin typeface="Arial"/>
              </a:rPr>
              <a:t>Contains REST modules: auth.py (JWT, OTP), doctors.py (leaves, reassignment), records.py (uploads).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/Frontend Directory: </a:t>
            </a:r>
            <a:r>
              <a:rPr sz="1400" b="0">
                <a:solidFill>
                  <a:srgbClr val="0F172A"/>
                </a:solidFill>
                <a:latin typeface="Arial"/>
              </a:rPr>
              <a:t>Houses React code. context/ handles state (Auth, Theme, Lang, WS); pages/ holds 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9: Core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TARS Orchestrator (tars_engine.py): </a:t>
            </a:r>
            <a:r>
              <a:rPr sz="1400" b="0">
                <a:solidFill>
                  <a:srgbClr val="0F172A"/>
                </a:solidFill>
                <a:latin typeface="Arial"/>
              </a:rPr>
              <a:t>Executes fallbacks, checks role permission lists, and triggers DB side-effects.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Dermatology Classifier (skin_ai.py): </a:t>
            </a:r>
            <a:r>
              <a:rPr sz="1400" b="0">
                <a:solidFill>
                  <a:srgbClr val="0F172A"/>
                </a:solidFill>
                <a:latin typeface="Arial"/>
              </a:rPr>
              <a:t>Infers ViT skin model. Maps 22 classes to severity levels and specialist paths.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Radiography Classifier (xray_ai.py): </a:t>
            </a:r>
            <a:r>
              <a:rPr sz="1400" b="0">
                <a:solidFill>
                  <a:srgbClr val="0F172A"/>
                </a:solidFill>
                <a:latin typeface="Arial"/>
              </a:rPr>
              <a:t>Runs chest X-ray ViT classification using Sigmoids to handle multi-label outputs.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Throat Heuristic Engine (throat_ai.py): </a:t>
            </a:r>
            <a:r>
              <a:rPr sz="1400" b="0">
                <a:solidFill>
                  <a:srgbClr val="0F172A"/>
                </a:solidFill>
                <a:latin typeface="Arial"/>
              </a:rPr>
              <a:t>Runs blur/aspect ratio validations and calculates pharyngeal HSV red-hue coverage ratios.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Prescription PDF Generator (prescription_pdf.py): </a:t>
            </a:r>
            <a:r>
              <a:rPr sz="1400" b="0">
                <a:solidFill>
                  <a:srgbClr val="0F172A"/>
                </a:solidFill>
                <a:latin typeface="Arial"/>
              </a:rPr>
              <a:t>Compiles report pages with styling, tables, and randomized signature path vectors.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10: Frontend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Role-Protected Routes: </a:t>
            </a:r>
            <a:r>
              <a:rPr sz="1400" b="0">
                <a:solidFill>
                  <a:srgbClr val="0F172A"/>
                </a:solidFill>
                <a:latin typeface="Arial"/>
              </a:rPr>
              <a:t>React Router 7 wraps views, redirecting sessions based on role claims.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Context State Management: </a:t>
            </a:r>
            <a:r>
              <a:rPr sz="1400" b="0">
                <a:solidFill>
                  <a:srgbClr val="0F172A"/>
                </a:solidFill>
                <a:latin typeface="Arial"/>
              </a:rPr>
              <a:t>AuthContext, CallContext, LanguageContext, ThemeContext, and WebSocketContext.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Dynamic Localizations: </a:t>
            </a:r>
            <a:r>
              <a:rPr sz="1400" b="0">
                <a:solidFill>
                  <a:srgbClr val="0F172A"/>
                </a:solidFill>
                <a:latin typeface="Arial"/>
              </a:rPr>
              <a:t>LanguageContext stores translation keys for en, hi, and te; maps locales based on user settings.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Premium Theme Controller: </a:t>
            </a:r>
            <a:r>
              <a:rPr sz="1400" b="0">
                <a:solidFill>
                  <a:srgbClr val="0F172A"/>
                </a:solidFill>
                <a:latin typeface="Arial"/>
              </a:rPr>
              <a:t>ThemeContext binds CSS HSL tokens (light, dark, teal, purple, rose) to variables in index.css.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GSAP Animation Layer: </a:t>
            </a:r>
            <a:r>
              <a:rPr sz="1400" b="0">
                <a:solidFill>
                  <a:srgbClr val="0F172A"/>
                </a:solidFill>
                <a:latin typeface="Arial"/>
              </a:rPr>
              <a:t>Drives scroll-triggered growing DNA graphics and neon ECG pulse lines with bounce spikes.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11: Backend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Gateway Routing Aggregation: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FastAPI main.py registers modular APIRouter endpoints via include_router.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DB Session Lifecycle Management: </a:t>
            </a:r>
            <a:r>
              <a:rPr sz="1400" b="0">
                <a:solidFill>
                  <a:srgbClr val="0F172A"/>
                </a:solidFill>
                <a:latin typeface="Arial"/>
              </a:rPr>
              <a:t>get_db yields scoped database connections, committing transactions or rolling back during failures.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Role-Based Access Control: </a:t>
            </a:r>
            <a:r>
              <a:rPr sz="1400" b="0">
                <a:solidFill>
                  <a:srgbClr val="0F172A"/>
                </a:solidFill>
                <a:latin typeface="Arial"/>
              </a:rPr>
              <a:t>require_role dependency enforces role claims (patient, doctor, admin) decoded from JWTs.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WebSocket Connection Manager: </a:t>
            </a:r>
            <a:r>
              <a:rPr sz="1400" b="0">
                <a:solidFill>
                  <a:srgbClr val="0F172A"/>
                </a:solidFill>
                <a:latin typeface="Arial"/>
              </a:rPr>
              <a:t>ConnectionManager maps active WebSockets to unique user IDs to distribute alert packets.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Background Task Schedulers: </a:t>
            </a:r>
            <a:r>
              <a:rPr sz="1400" b="0">
                <a:solidFill>
                  <a:srgbClr val="0F172A"/>
                </a:solidFill>
                <a:latin typeface="Arial"/>
              </a:rPr>
              <a:t>Drives medication reminders, audit logs, and asynchronous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12: Database &amp; 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Storage Engines: </a:t>
            </a:r>
            <a:r>
              <a:rPr sz="1400" b="0">
                <a:solidFill>
                  <a:srgbClr val="0F172A"/>
                </a:solidFill>
                <a:latin typeface="Arial"/>
              </a:rPr>
              <a:t>Supabase PostgreSQL hosted database in production; local SQLite for testing isolation.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Core Users Schema: </a:t>
            </a:r>
            <a:r>
              <a:rPr sz="1400" b="0">
                <a:solidFill>
                  <a:srgbClr val="0F172A"/>
                </a:solidFill>
                <a:latin typeface="Arial"/>
              </a:rPr>
              <a:t>users table records email, role, active status, verification markers, and hashed passwords.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User Profiles and Credentials: </a:t>
            </a:r>
            <a:r>
              <a:rPr sz="1400" b="0">
                <a:solidFill>
                  <a:srgbClr val="0F172A"/>
                </a:solidFill>
                <a:latin typeface="Arial"/>
              </a:rPr>
              <a:t>patient_profiles and doctors tables store demographics, geolocations, and specializations.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Operational Entities: </a:t>
            </a:r>
            <a:r>
              <a:rPr sz="1400" b="0">
                <a:solidFill>
                  <a:srgbClr val="0F172A"/>
                </a:solidFill>
                <a:latin typeface="Arial"/>
              </a:rPr>
              <a:t>appointments, leave_requests, complaints, feedbacks, and medicine_reminders tables.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Audit and Log Trails: </a:t>
            </a:r>
            <a:r>
              <a:rPr sz="1400" b="0">
                <a:solidFill>
                  <a:srgbClr val="0F172A"/>
                </a:solidFill>
                <a:latin typeface="Arial"/>
              </a:rPr>
              <a:t>audit_logs, video_call_audit_logs, and notifications tables track session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13: API &amp;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REST HTTP Endpoints: </a:t>
            </a:r>
            <a:r>
              <a:rPr sz="1400" b="0">
                <a:solidFill>
                  <a:srgbClr val="0F172A"/>
                </a:solidFill>
                <a:latin typeface="Arial"/>
              </a:rPr>
              <a:t>/routes/auth (Auth/OTP), /routes/doctors (Leaves/Reassign), /routes/records (Anti-Fraud).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Voice WebSocket Router: </a:t>
            </a:r>
            <a:r>
              <a:rPr sz="1400" b="0">
                <a:solidFill>
                  <a:srgbClr val="0F172A"/>
                </a:solidFill>
                <a:latin typeface="Arial"/>
              </a:rPr>
              <a:t>/ws/tars/voice handles bidirectional speech streaming, transcription, and TTS.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Groq Speech Pipeline: </a:t>
            </a:r>
            <a:r>
              <a:rPr sz="1400" b="0">
                <a:solidFill>
                  <a:srgbClr val="0F172A"/>
                </a:solidFill>
                <a:latin typeface="Arial"/>
              </a:rPr>
              <a:t>Integrates whisper-large-v3, passing a custom prompt dictionary to filter medical terms.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Google Gemini Pipeline: </a:t>
            </a:r>
            <a:r>
              <a:rPr sz="1400" b="0">
                <a:solidFill>
                  <a:srgbClr val="0F172A"/>
                </a:solidFill>
                <a:latin typeface="Arial"/>
              </a:rPr>
              <a:t>Invokes text-embedding-004 to create vectors and gemini-1.5-flash to parse intents.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Brevo SMTP Mail Service: </a:t>
            </a:r>
            <a:r>
              <a:rPr sz="1400" b="0">
                <a:solidFill>
                  <a:srgbClr val="0F172A"/>
                </a:solidFill>
                <a:latin typeface="Arial"/>
              </a:rPr>
              <a:t>API calls to /v3/smtp/email to dispatch verifications, OTPs, and email reminders.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14: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Authentication Architecture: </a:t>
            </a:r>
            <a:r>
              <a:rPr sz="1400" b="0">
                <a:solidFill>
                  <a:srgbClr val="0F172A"/>
                </a:solidFill>
                <a:latin typeface="Arial"/>
              </a:rPr>
              <a:t>Bcrypt password hashing and JWT token authorization signed with HS256 algorithm keys.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Verification Tiers: </a:t>
            </a:r>
            <a:r>
              <a:rPr sz="1400" b="0">
                <a:solidFill>
                  <a:srgbClr val="0F172A"/>
                </a:solidFill>
                <a:latin typeface="Arial"/>
              </a:rPr>
              <a:t>Mandatory OTP codes sent via email to activate accounts. Admin audits required for doctor licenses.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Leave Request Approvals Isolation: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Security validation blocks users with both admin and doctor roles from auditing leave requests.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Document Anti-Fraud Verification: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Scrutinizes binary streams for editing software tags (Photoshop/GIMP) and template keywords.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Input Serialization: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Pydantic data validation and SQLAlchemy parameters serialize inputs to block SQL Injection.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15: Key Features &amp; Functionalities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Voice-Native execution (TARS): </a:t>
            </a:r>
            <a:r>
              <a:rPr sz="1400" b="0">
                <a:solidFill>
                  <a:srgbClr val="0F172A"/>
                </a:solidFill>
                <a:latin typeface="Arial"/>
              </a:rPr>
              <a:t>Navigates dashboard pages and executes actions natively through user speech command inputs.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Vision-Based Diagnostic Scans: </a:t>
            </a:r>
            <a:r>
              <a:rPr sz="1400" b="0">
                <a:solidFill>
                  <a:srgbClr val="0F172A"/>
                </a:solidFill>
                <a:latin typeface="Arial"/>
              </a:rPr>
              <a:t>Classifies lung radiographs and skin moles, rendering bounding box overlays in the UI.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Emergency SOS Broadcasts: </a:t>
            </a:r>
            <a:r>
              <a:rPr sz="1400" b="0">
                <a:solidFill>
                  <a:srgbClr val="0F172A"/>
                </a:solidFill>
                <a:latin typeface="Arial"/>
              </a:rPr>
              <a:t>Pulls patient GPS coordinates to notify doctors within 100km via WebSockets.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One-Click Surgery Reassignments: </a:t>
            </a:r>
            <a:r>
              <a:rPr sz="1400" b="0">
                <a:solidFill>
                  <a:srgbClr val="0F172A"/>
                </a:solidFill>
                <a:latin typeface="Arial"/>
              </a:rPr>
              <a:t>Instantly reallocates doctor's appointments to department specialists during surgery.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Brevo-Backed Reminders: </a:t>
            </a:r>
            <a:r>
              <a:rPr sz="1400" b="0">
                <a:solidFill>
                  <a:srgbClr val="0F172A"/>
                </a:solidFill>
                <a:latin typeface="Arial"/>
              </a:rPr>
              <a:t>Triggers scheduled medication alerts across WebSockets, mock SMS logs, and emails.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16: Important Algorithms &amp; Heuristics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Haversine Proximity Calculation: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Calculates distance: d = 2R arcsin(sqrt(sin^2(dLat/2) + cos(lat1)cos(lat2)sin^2(dLon/2))). Checks if d &lt;= 100km.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RAG Guidelines Retrieval: </a:t>
            </a:r>
            <a:r>
              <a:rPr sz="1400" b="0">
                <a:solidFill>
                  <a:srgbClr val="0F172A"/>
                </a:solidFill>
                <a:latin typeface="Arial"/>
              </a:rPr>
              <a:t>Computes cosine similarity on guideline vectors; falls back to stopwords-free keyword overlaps.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Throat Image Quality &amp; Inflammation Heuristics: </a:t>
            </a:r>
            <a:r>
              <a:rPr sz="1400" b="0">
                <a:solidFill>
                  <a:srgbClr val="0F172A"/>
                </a:solidFill>
                <a:latin typeface="Arial"/>
              </a:rPr>
              <a:t>Applies Laplacian variance (blur check), red-hue HSV masks, and red-to-green intensity ratios.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Randomized Vector Signature Flourish: </a:t>
            </a:r>
            <a:r>
              <a:rPr sz="1400" b="0">
                <a:solidFill>
                  <a:srgbClr val="0F172A"/>
                </a:solidFill>
                <a:latin typeface="Arial"/>
              </a:rPr>
              <a:t>Plots signature loops using coordinates generated from a seed, written as PDF path canvas objects.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17: Testing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Testing Framework: </a:t>
            </a:r>
            <a:r>
              <a:rPr sz="1400" b="0">
                <a:solidFill>
                  <a:srgbClr val="0F172A"/>
                </a:solidFill>
                <a:latin typeface="Arial"/>
              </a:rPr>
              <a:t>Pytest runs backend validations in database-isolated transactions.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Authentication Audits (test_api.py): </a:t>
            </a:r>
            <a:r>
              <a:rPr sz="1400" b="0">
                <a:solidFill>
                  <a:srgbClr val="0F172A"/>
                </a:solidFill>
                <a:latin typeface="Arial"/>
              </a:rPr>
              <a:t>Verifies registration, validation rules, token creations, and RBAC gate-keeping.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Consultation Constraints (test_booking_rules.py): </a:t>
            </a:r>
            <a:r>
              <a:rPr sz="1400" b="0">
                <a:solidFill>
                  <a:srgbClr val="0F172A"/>
                </a:solidFill>
                <a:latin typeface="Arial"/>
              </a:rPr>
              <a:t>Enforces clinic hours (08:00-20:00) and advanced booking requirements (&gt;=2 days in advance).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Voice Pipeline (test_voice_pipeline.py): </a:t>
            </a:r>
            <a:r>
              <a:rPr sz="1400" b="0">
                <a:solidFill>
                  <a:srgbClr val="0F172A"/>
                </a:solidFill>
                <a:latin typeface="Arial"/>
              </a:rPr>
              <a:t>Validates WebSocket loops, chunk conversions to WAV, and speech synthesis pipelines.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Calling &amp; Notifications (test_calls.py, test_chats_notifications.py): </a:t>
            </a:r>
            <a:r>
              <a:rPr sz="1400" b="0">
                <a:solidFill>
                  <a:srgbClr val="0F172A"/>
                </a:solidFill>
                <a:latin typeface="Arial"/>
              </a:rPr>
              <a:t>Checks calling states, audit logs, and message notifications.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18: Deployment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Frontend Client Hosting: </a:t>
            </a:r>
            <a:r>
              <a:rPr sz="1400" b="0">
                <a:solidFill>
                  <a:srgbClr val="0F172A"/>
                </a:solidFill>
                <a:latin typeface="Arial"/>
              </a:rPr>
              <a:t>Vercel SPA configurations containing rewrite routing schemas inside vercel.json.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Backend Service Hosting: </a:t>
            </a:r>
            <a:r>
              <a:rPr sz="1400" b="0">
                <a:solidFill>
                  <a:srgbClr val="0F172A"/>
                </a:solidFill>
                <a:latin typeface="Arial"/>
              </a:rPr>
              <a:t>Uvicorn ASGI runner deployed on cloud app containers or server instances.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Supabase Hosted Database: </a:t>
            </a:r>
            <a:r>
              <a:rPr sz="1400" b="0">
                <a:solidFill>
                  <a:srgbClr val="0F172A"/>
                </a:solidFill>
                <a:latin typeface="Arial"/>
              </a:rPr>
              <a:t>PostgreSQL cluster configured with connection pooling to support transaction scaling.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Environment Declarations: </a:t>
            </a:r>
            <a:r>
              <a:rPr sz="1400" b="0">
                <a:solidFill>
                  <a:srgbClr val="0F172A"/>
                </a:solidFill>
                <a:latin typeface="Arial"/>
              </a:rPr>
              <a:t>Configured via .env variables; fallbacks ensure local execution when keys are missing.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19: Technical 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Asynchronous Audio Latency: </a:t>
            </a:r>
            <a:r>
              <a:rPr sz="1400" b="0">
                <a:solidFill>
                  <a:srgbClr val="0F172A"/>
                </a:solidFill>
                <a:latin typeface="Arial"/>
              </a:rPr>
              <a:t>Streams raw audio PCM chunks over WebSockets; prioritizes Groq Whisper (&lt;200ms) with faster-whisper fallback.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Multilingual Intent Mapping: </a:t>
            </a:r>
            <a:r>
              <a:rPr sz="1400" b="0">
                <a:solidFill>
                  <a:srgbClr val="0F172A"/>
                </a:solidFill>
                <a:latin typeface="Arial"/>
              </a:rPr>
              <a:t>Uses context-aware LLM prompts to instruct TARS to match the user's specific dialect and script.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External API Key Resiliency: </a:t>
            </a:r>
            <a:r>
              <a:rPr sz="1400" b="0">
                <a:solidFill>
                  <a:srgbClr val="0F172A"/>
                </a:solidFill>
                <a:latin typeface="Arial"/>
              </a:rPr>
              <a:t>Engine includes local fallbacks, using keyword matching and route navigation when API keys are missing.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Document Tampering Vulnerabilities: </a:t>
            </a:r>
            <a:r>
              <a:rPr sz="1400" b="0">
                <a:solidFill>
                  <a:srgbClr val="0F172A"/>
                </a:solidFill>
                <a:latin typeface="Arial"/>
              </a:rPr>
              <a:t>Heuristic stream scanner detects editing tags (Photoshop/GIMP) and fake specimen templates.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6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 20: Project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Platform Achievements: </a:t>
            </a:r>
            <a:r>
              <a:rPr sz="1400" b="0">
                <a:solidFill>
                  <a:srgbClr val="0F172A"/>
                </a:solidFill>
                <a:latin typeface="Arial"/>
              </a:rPr>
              <a:t>multimodal voice dialogue portal featuring visual diagnostics, SOS routing, and verified workflows.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Platform Limitations: </a:t>
            </a:r>
            <a:r>
              <a:rPr sz="1400" b="0">
                <a:solidFill>
                  <a:srgbClr val="0F172A"/>
                </a:solidFill>
                <a:latin typeface="Arial"/>
              </a:rPr>
              <a:t>Local model executions (ViT, faster-whisper) require GPU support to prevent CPU bottlenecks.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Future Scope - Local Quantization: </a:t>
            </a:r>
            <a:r>
              <a:rPr sz="1400" b="0">
                <a:solidFill>
                  <a:srgbClr val="0F172A"/>
                </a:solidFill>
                <a:latin typeface="Arial"/>
              </a:rPr>
              <a:t>Implement local model quantization to execute the pipeline in offline environments.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Arial"/>
              </a:rPr>
              <a:t>• Future Scope - RAG Context Expansion: </a:t>
            </a:r>
            <a:r>
              <a:rPr sz="1400" b="0">
                <a:solidFill>
                  <a:srgbClr val="0F172A"/>
                </a:solidFill>
                <a:latin typeface="Arial"/>
              </a:rPr>
              <a:t>Extend vector indices to support querying clinical annotations and historical logs.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C60F5"/>
                </a:solidFill>
                <a:latin typeface="Arial"/>
              </a:rPr>
              <a:t>• Future Scope - Native Audio Formats: </a:t>
            </a:r>
            <a:r>
              <a:rPr sz="1400" b="0">
                <a:solidFill>
                  <a:srgbClr val="0F172A"/>
                </a:solidFill>
                <a:latin typeface="Arial"/>
              </a:rPr>
              <a:t>Add native support for MP3/M4A parsing directly inside the voice WebSocket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